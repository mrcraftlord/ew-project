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914400"/>
            <a:ext cx="10362895" cy="502920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463040" y="1371600"/>
            <a:ext cx="3291840" cy="411480"/>
          </a:xfrm>
          <a:prstGeom prst="round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ELECTRONICS WORKSHOP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2011680"/>
            <a:ext cx="9144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Gesture-Controlled Music Player</a:t>
            </a:r>
          </a:p>
          <a:p>
            <a:pPr>
              <a:spcBef>
                <a:spcPts val="800"/>
              </a:spcBef>
              <a:defRPr sz="2800" b="1">
                <a:solidFill>
                  <a:srgbClr val="38BDF8"/>
                </a:solidFill>
              </a:defRPr>
            </a:pPr>
            <a:r>
              <a:t>using Visible Light Communication (VLC)</a:t>
            </a:r>
          </a:p>
        </p:txBody>
      </p:sp>
      <p:sp>
        <p:nvSpPr>
          <p:cNvPr id="6" name="Rectangle 5"/>
          <p:cNvSpPr/>
          <p:nvPr/>
        </p:nvSpPr>
        <p:spPr>
          <a:xfrm>
            <a:off x="1463040" y="3931920"/>
            <a:ext cx="9144000" cy="18288"/>
          </a:xfrm>
          <a:prstGeom prst="rect">
            <a:avLst/>
          </a:prstGeom>
          <a:solidFill>
            <a:srgbClr val="3A5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63040" y="4114800"/>
            <a:ext cx="457200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59E0B"/>
                </a:solidFill>
              </a:defRPr>
            </a:pPr>
            <a:r>
              <a:t>TEAM: CHAMMAKS</a:t>
            </a:r>
          </a:p>
          <a:p>
            <a:pPr>
              <a:defRPr sz="1300">
                <a:solidFill>
                  <a:srgbClr val="F1F5F9"/>
                </a:solidFill>
              </a:defRPr>
            </a:pPr>
            <a:r>
              <a:t>• Shreyaas Sarkar</a:t>
            </a:r>
          </a:p>
          <a:p>
            <a:pPr>
              <a:defRPr sz="1300">
                <a:solidFill>
                  <a:srgbClr val="F1F5F9"/>
                </a:solidFill>
              </a:defRPr>
            </a:pPr>
            <a:r>
              <a:t>• Jonathan Robin</a:t>
            </a:r>
          </a:p>
          <a:p>
            <a:pPr>
              <a:defRPr sz="1300">
                <a:solidFill>
                  <a:srgbClr val="F1F5F9"/>
                </a:solidFill>
              </a:defRPr>
            </a:pPr>
            <a:r>
              <a:t>• Aditya Gokhale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4114800"/>
            <a:ext cx="411480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94A3B8"/>
                </a:solidFill>
              </a:defRPr>
            </a:pPr>
            <a:r>
              <a:t>DEPARTMENT / INSTITUTION</a:t>
            </a:r>
          </a:p>
          <a:p>
            <a:pPr>
              <a:defRPr sz="1300">
                <a:solidFill>
                  <a:srgbClr val="F1F5F9"/>
                </a:solidFill>
              </a:defRPr>
            </a:pPr>
            <a:r>
              <a:t>Electronics &amp; Communication Engineering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</a:defRPr>
            </a:pPr>
            <a:r>
              <a:t>Academic Year: 2025 –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ELECTRONICS WORKSHOP (EW)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Problem Statement &amp; Project Interpretation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2286000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20640" cy="4663440"/>
          </a:xfrm>
          <a:prstGeom prst="roundRect">
            <a:avLst/>
          </a:prstGeom>
          <a:solidFill>
            <a:srgbClr val="1C2541"/>
          </a:solidFill>
          <a:ln w="12700"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28800"/>
            <a:ext cx="4663440" cy="4297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38BDF8"/>
                </a:solidFill>
              </a:defRPr>
            </a:pPr>
            <a:r>
              <a:t>The Engineering Challenge</a:t>
            </a:r>
          </a:p>
          <a:p>
            <a:pPr>
              <a:spcAft>
                <a:spcPts val="800"/>
              </a:spcAft>
              <a:defRPr sz="1300">
                <a:solidFill>
                  <a:srgbClr val="F1F5F9"/>
                </a:solidFill>
              </a:defRPr>
            </a:pPr>
            <a:r>
              <a:t>• Traditional wireless controllers rely exclusively on RF (Bluetooth/Wi-Fi), introducing RF congestion, radiation, and security vulnerabilities.</a:t>
            </a:r>
          </a:p>
          <a:p>
            <a:pPr>
              <a:spcAft>
                <a:spcPts val="800"/>
              </a:spcAft>
              <a:defRPr sz="1300">
                <a:solidFill>
                  <a:srgbClr val="F1F5F9"/>
                </a:solidFill>
              </a:defRPr>
            </a:pPr>
            <a:r>
              <a:t>• Conventional audio playback requires physical touch or line-of-sight buttons, impractical in sterile or active workshop environments.</a:t>
            </a:r>
          </a:p>
          <a:p>
            <a:pPr>
              <a:spcAft>
                <a:spcPts val="800"/>
              </a:spcAft>
              <a:defRPr sz="1300">
                <a:solidFill>
                  <a:srgbClr val="F1F5F9"/>
                </a:solidFill>
              </a:defRPr>
            </a:pPr>
            <a:r>
              <a:t>• Objective: Design and fabricate an optical, contactless human-machine interface combining gesture kinematics with optical wireless communication.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120640" cy="4663440"/>
          </a:xfrm>
          <a:prstGeom prst="roundRect">
            <a:avLst/>
          </a:prstGeom>
          <a:solidFill>
            <a:srgbClr val="1C2541"/>
          </a:solidFill>
          <a:ln w="12700"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828800"/>
            <a:ext cx="4663440" cy="4297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38BDF8"/>
                </a:solidFill>
              </a:defRPr>
            </a:pPr>
            <a:r>
              <a:t>Our System Interpretation</a:t>
            </a:r>
          </a:p>
          <a:p>
            <a:pPr>
              <a:spcAft>
                <a:spcPts val="800"/>
              </a:spcAft>
              <a:defRPr sz="1300">
                <a:solidFill>
                  <a:srgbClr val="F1F5F9"/>
                </a:solidFill>
              </a:defRPr>
            </a:pPr>
            <a:r>
              <a:t>• Wearable Sensing Subsystem: Glove mounted with 2x analog flex sensors and MPU-6050 6-DOF IMU detects hand orientation and finger bends.</a:t>
            </a:r>
          </a:p>
          <a:p>
            <a:pPr>
              <a:spcAft>
                <a:spcPts val="800"/>
              </a:spcAft>
              <a:defRPr sz="1300">
                <a:solidFill>
                  <a:srgbClr val="F1F5F9"/>
                </a:solidFill>
              </a:defRPr>
            </a:pPr>
            <a:r>
              <a:t>• Optical Wireless Channel: Converts recognized gesture commands into high-speed modulated visible light pulses (450 nm – 650 nm).</a:t>
            </a:r>
          </a:p>
          <a:p>
            <a:pPr>
              <a:spcAft>
                <a:spcPts val="800"/>
              </a:spcAft>
              <a:defRPr sz="1300">
                <a:solidFill>
                  <a:srgbClr val="F1F5F9"/>
                </a:solidFill>
              </a:defRPr>
            </a:pPr>
            <a:r>
              <a:t>• Audio Base Station: Fast photodiode detects light signals, validates checksums, actuates servo directional aiming, and drives dual I2S speakers.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ELECTRONICS WORKSHOP (EW)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System Overview &amp; Workflow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2286000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337560" cy="4663440"/>
          </a:xfrm>
          <a:prstGeom prst="roundRect">
            <a:avLst/>
          </a:prstGeom>
          <a:solidFill>
            <a:srgbClr val="1C2541"/>
          </a:solidFill>
          <a:ln w="12700"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28800"/>
            <a:ext cx="2880360" cy="4297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38BDF8"/>
                </a:solidFill>
              </a:defRPr>
            </a:pPr>
            <a:r>
              <a:t>1. Wearable Glove Unit</a:t>
            </a:r>
          </a:p>
          <a:p>
            <a:pPr>
              <a:spcAft>
                <a:spcPts val="800"/>
              </a:spcAft>
              <a:defRPr sz="1300">
                <a:solidFill>
                  <a:srgbClr val="F1F5F9"/>
                </a:solidFill>
              </a:defRPr>
            </a:pPr>
            <a:r>
              <a:t>• MPU-6050: Samples pitch and roll angles at 50 Hz via I2C bus.</a:t>
            </a:r>
          </a:p>
          <a:p>
            <a:pPr>
              <a:spcAft>
                <a:spcPts val="800"/>
              </a:spcAft>
              <a:defRPr sz="1300">
                <a:solidFill>
                  <a:srgbClr val="F1F5F9"/>
                </a:solidFill>
              </a:defRPr>
            </a:pPr>
            <a:r>
              <a:t>• Flex Sensors: Voltage divider network measures finger curling.</a:t>
            </a:r>
          </a:p>
          <a:p>
            <a:pPr>
              <a:spcAft>
                <a:spcPts val="800"/>
              </a:spcAft>
              <a:defRPr sz="1300">
                <a:solidFill>
                  <a:srgbClr val="F1F5F9"/>
                </a:solidFill>
              </a:defRPr>
            </a:pPr>
            <a:r>
              <a:t>• Sensor Fusion: Complementary filter eliminates drift &amp; hand tremors.</a:t>
            </a:r>
          </a:p>
          <a:p>
            <a:pPr>
              <a:spcAft>
                <a:spcPts val="800"/>
              </a:spcAft>
              <a:defRPr sz="1300">
                <a:solidFill>
                  <a:srgbClr val="F1F5F9"/>
                </a:solidFill>
              </a:defRPr>
            </a:pPr>
            <a:r>
              <a:t>• Frame Assembly: Generates 6-byte packet with sync preamble &amp; XOR CRC.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645920"/>
            <a:ext cx="3337560" cy="4663440"/>
          </a:xfrm>
          <a:prstGeom prst="roundRect">
            <a:avLst/>
          </a:prstGeom>
          <a:solidFill>
            <a:srgbClr val="1C2541"/>
          </a:solidFill>
          <a:ln w="12700"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63440" y="1828800"/>
            <a:ext cx="2880360" cy="4297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38BDF8"/>
                </a:solidFill>
              </a:defRPr>
            </a:pPr>
            <a:r>
              <a:t>2. Optical VLC Channel</a:t>
            </a:r>
          </a:p>
          <a:p>
            <a:pPr>
              <a:spcAft>
                <a:spcPts val="800"/>
              </a:spcAft>
              <a:defRPr sz="1300">
                <a:solidFill>
                  <a:srgbClr val="F1F5F9"/>
                </a:solidFill>
              </a:defRPr>
            </a:pPr>
            <a:r>
              <a:t>• Visible Emitter: High-brightness LED (Blue 465 nm or focused Red 650 nm).</a:t>
            </a:r>
          </a:p>
          <a:p>
            <a:pPr>
              <a:spcAft>
                <a:spcPts val="800"/>
              </a:spcAft>
              <a:defRPr sz="1300">
                <a:solidFill>
                  <a:srgbClr val="F1F5F9"/>
                </a:solidFill>
              </a:defRPr>
            </a:pPr>
            <a:r>
              <a:t>• Modulation: 2400-baud UART-over-light or 50 kHz high-speed audio PWM.</a:t>
            </a:r>
          </a:p>
          <a:p>
            <a:pPr>
              <a:spcAft>
                <a:spcPts val="800"/>
              </a:spcAft>
              <a:defRPr sz="1300">
                <a:solidFill>
                  <a:srgbClr val="F1F5F9"/>
                </a:solidFill>
              </a:defRPr>
            </a:pPr>
            <a:r>
              <a:t>• Physical Security: Confined within room boundaries (cannot pass walls).</a:t>
            </a:r>
          </a:p>
          <a:p>
            <a:pPr>
              <a:spcAft>
                <a:spcPts val="800"/>
              </a:spcAft>
              <a:defRPr sz="1300">
                <a:solidFill>
                  <a:srgbClr val="F1F5F9"/>
                </a:solidFill>
              </a:defRPr>
            </a:pPr>
            <a:r>
              <a:t>• Zero RF EMI: Completely safe for sensitive lab and medical environments.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1645920"/>
            <a:ext cx="3337560" cy="4663440"/>
          </a:xfrm>
          <a:prstGeom prst="roundRect">
            <a:avLst/>
          </a:prstGeom>
          <a:solidFill>
            <a:srgbClr val="1C2541"/>
          </a:solidFill>
          <a:ln w="12700"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66760" y="1828800"/>
            <a:ext cx="2880360" cy="4297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38BDF8"/>
                </a:solidFill>
              </a:defRPr>
            </a:pPr>
            <a:r>
              <a:t>3. Audio Base Station</a:t>
            </a:r>
          </a:p>
          <a:p>
            <a:pPr>
              <a:spcAft>
                <a:spcPts val="800"/>
              </a:spcAft>
              <a:defRPr sz="1300">
                <a:solidFill>
                  <a:srgbClr val="F1F5F9"/>
                </a:solidFill>
              </a:defRPr>
            </a:pPr>
            <a:r>
              <a:t>• Optical RX: Fast PIN photodiode + LM393 comparator pulse recovery.</a:t>
            </a:r>
          </a:p>
          <a:p>
            <a:pPr>
              <a:spcAft>
                <a:spcPts val="800"/>
              </a:spcAft>
              <a:defRPr sz="1300">
                <a:solidFill>
                  <a:srgbClr val="F1F5F9"/>
                </a:solidFill>
              </a:defRPr>
            </a:pPr>
            <a:r>
              <a:t>• Actuation: SG90 micro-servo rotates optical receiver/speaker aim.</a:t>
            </a:r>
          </a:p>
          <a:p>
            <a:pPr>
              <a:spcAft>
                <a:spcPts val="800"/>
              </a:spcAft>
              <a:defRPr sz="1300">
                <a:solidFill>
                  <a:srgbClr val="F1F5F9"/>
                </a:solidFill>
              </a:defRPr>
            </a:pPr>
            <a:r>
              <a:t>• Dual I2S Audio: Shared BCLK/LRC/DIN to two MAX98357A Class-D DACs.</a:t>
            </a:r>
          </a:p>
          <a:p>
            <a:pPr>
              <a:spcAft>
                <a:spcPts val="800"/>
              </a:spcAft>
              <a:defRPr sz="1300">
                <a:solidFill>
                  <a:srgbClr val="F1F5F9"/>
                </a:solidFill>
              </a:defRPr>
            </a:pPr>
            <a:r>
              <a:t>• Output: Independent channel shutdown powers stereo 3W speakers.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ELECTRONICS WORKSHOP (EW)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Hardware Components &amp; Specifications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2286000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645920"/>
          <a:ext cx="1069848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1097280"/>
                <a:gridCol w="4114800"/>
                <a:gridCol w="2560320"/>
              </a:tblGrid>
              <a:tr h="57150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Component Name</a:t>
                      </a:r>
                    </a:p>
                  </a:txBody>
                  <a:tcPr>
                    <a:solidFill>
                      <a:srgbClr val="0E749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Qty</a:t>
                      </a:r>
                    </a:p>
                  </a:txBody>
                  <a:tcPr>
                    <a:solidFill>
                      <a:srgbClr val="0E749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Technical Specifications / Purpose</a:t>
                      </a:r>
                    </a:p>
                  </a:txBody>
                  <a:tcPr>
                    <a:solidFill>
                      <a:srgbClr val="0E749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Role in System</a:t>
                      </a:r>
                    </a:p>
                  </a:txBody>
                  <a:tcPr>
                    <a:solidFill>
                      <a:srgbClr val="0E7490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1F5F9"/>
                          </a:solidFill>
                        </a:defRPr>
                      </a:pPr>
                      <a:r>
                        <a:t>ESP32-WROOM-32 Dev Kit</a:t>
                      </a:r>
                    </a:p>
                  </a:txBody>
                  <a:tcPr>
                    <a:solidFill>
                      <a:srgbClr val="1C25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1F5F9"/>
                          </a:solidFill>
                        </a:defRPr>
                      </a:pPr>
                      <a:r>
                        <a:t>2–3</a:t>
                      </a:r>
                    </a:p>
                  </a:txBody>
                  <a:tcPr>
                    <a:solidFill>
                      <a:srgbClr val="1C25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1F5F9"/>
                          </a:solidFill>
                        </a:defRPr>
                      </a:pPr>
                      <a:r>
                        <a:t>Dual Tensilica Xtensa @ 240 MHz, Hardware I2S, I2C, ADC, BLE</a:t>
                      </a:r>
                    </a:p>
                  </a:txBody>
                  <a:tcPr>
                    <a:solidFill>
                      <a:srgbClr val="1C25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1F5F9"/>
                          </a:solidFill>
                        </a:defRPr>
                      </a:pPr>
                      <a:r>
                        <a:t>Processing brains (Glove &amp; Base)</a:t>
                      </a:r>
                    </a:p>
                  </a:txBody>
                  <a:tcPr>
                    <a:solidFill>
                      <a:srgbClr val="1C2541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1F5F9"/>
                          </a:solidFill>
                        </a:defRPr>
                      </a:pPr>
                      <a:r>
                        <a:t>MPU-6050 6-DOF IMU</a:t>
                      </a:r>
                    </a:p>
                  </a:txBody>
                  <a:tcPr>
                    <a:solidFill>
                      <a:srgbClr val="151D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1F5F9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151D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1F5F9"/>
                          </a:solidFill>
                        </a:defRPr>
                      </a:pPr>
                      <a:r>
                        <a:t>3-axis Accelerometer + 3-axis Gyroscope, I2C fast mode (0x68)</a:t>
                      </a:r>
                    </a:p>
                  </a:txBody>
                  <a:tcPr>
                    <a:solidFill>
                      <a:srgbClr val="151D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1F5F9"/>
                          </a:solidFill>
                        </a:defRPr>
                      </a:pPr>
                      <a:r>
                        <a:t>Hand tilt &amp; motion capture</a:t>
                      </a:r>
                    </a:p>
                  </a:txBody>
                  <a:tcPr>
                    <a:solidFill>
                      <a:srgbClr val="151D32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1F5F9"/>
                          </a:solidFill>
                        </a:defRPr>
                      </a:pPr>
                      <a:r>
                        <a:t>Analog Flex Sensors (2.2")</a:t>
                      </a:r>
                    </a:p>
                  </a:txBody>
                  <a:tcPr>
                    <a:solidFill>
                      <a:srgbClr val="1C25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1F5F9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1C25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1F5F9"/>
                          </a:solidFill>
                        </a:defRPr>
                      </a:pPr>
                      <a:r>
                        <a:t>Variable resistive strip (~10kΩ flat, ~35kΩ bent 90°)</a:t>
                      </a:r>
                    </a:p>
                  </a:txBody>
                  <a:tcPr>
                    <a:solidFill>
                      <a:srgbClr val="1C25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1F5F9"/>
                          </a:solidFill>
                        </a:defRPr>
                      </a:pPr>
                      <a:r>
                        <a:t>Index &amp; middle finger bend sensing</a:t>
                      </a:r>
                    </a:p>
                  </a:txBody>
                  <a:tcPr>
                    <a:solidFill>
                      <a:srgbClr val="1C2541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1F5F9"/>
                          </a:solidFill>
                        </a:defRPr>
                      </a:pPr>
                      <a:r>
                        <a:t>Visible Light LED Emitter</a:t>
                      </a:r>
                    </a:p>
                  </a:txBody>
                  <a:tcPr>
                    <a:solidFill>
                      <a:srgbClr val="151D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1F5F9"/>
                          </a:solidFill>
                        </a:defRPr>
                      </a:pPr>
                      <a:r>
                        <a:t>1–2</a:t>
                      </a:r>
                    </a:p>
                  </a:txBody>
                  <a:tcPr>
                    <a:solidFill>
                      <a:srgbClr val="151D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1F5F9"/>
                          </a:solidFill>
                        </a:defRPr>
                      </a:pPr>
                      <a:r>
                        <a:t>High-flux 5mm LED (Blue 465nm / Red 650nm) + 2N2222 Driver</a:t>
                      </a:r>
                    </a:p>
                  </a:txBody>
                  <a:tcPr>
                    <a:solidFill>
                      <a:srgbClr val="151D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1F5F9"/>
                          </a:solidFill>
                        </a:defRPr>
                      </a:pPr>
                      <a:r>
                        <a:t>Optical VLC transmitter</a:t>
                      </a:r>
                    </a:p>
                  </a:txBody>
                  <a:tcPr>
                    <a:solidFill>
                      <a:srgbClr val="151D32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1F5F9"/>
                          </a:solidFill>
                        </a:defRPr>
                      </a:pPr>
                      <a:r>
                        <a:t>PIN Photodiode Module</a:t>
                      </a:r>
                    </a:p>
                  </a:txBody>
                  <a:tcPr>
                    <a:solidFill>
                      <a:srgbClr val="1C25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1F5F9"/>
                          </a:solidFill>
                        </a:defRPr>
                      </a:pPr>
                      <a:r>
                        <a:t>1–2</a:t>
                      </a:r>
                    </a:p>
                  </a:txBody>
                  <a:tcPr>
                    <a:solidFill>
                      <a:srgbClr val="1C25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1F5F9"/>
                          </a:solidFill>
                        </a:defRPr>
                      </a:pPr>
                      <a:r>
                        <a:t>Visible-spectrum photodiode with LM393 analog comparator</a:t>
                      </a:r>
                    </a:p>
                  </a:txBody>
                  <a:tcPr>
                    <a:solidFill>
                      <a:srgbClr val="1C25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1F5F9"/>
                          </a:solidFill>
                        </a:defRPr>
                      </a:pPr>
                      <a:r>
                        <a:t>Optical signal receiver</a:t>
                      </a:r>
                    </a:p>
                  </a:txBody>
                  <a:tcPr>
                    <a:solidFill>
                      <a:srgbClr val="1C2541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1F5F9"/>
                          </a:solidFill>
                        </a:defRPr>
                      </a:pPr>
                      <a:r>
                        <a:t>MAX98357A I2S Class-D Amp</a:t>
                      </a:r>
                    </a:p>
                  </a:txBody>
                  <a:tcPr>
                    <a:solidFill>
                      <a:srgbClr val="151D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1F5F9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151D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1F5F9"/>
                          </a:solidFill>
                        </a:defRPr>
                      </a:pPr>
                      <a:r>
                        <a:t>3.2W into 4Ω, hardware I2S PCM input, independent SD pin</a:t>
                      </a:r>
                    </a:p>
                  </a:txBody>
                  <a:tcPr>
                    <a:solidFill>
                      <a:srgbClr val="151D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1F5F9"/>
                          </a:solidFill>
                        </a:defRPr>
                      </a:pPr>
                      <a:r>
                        <a:t>Digital audio DAC &amp; amplification</a:t>
                      </a:r>
                    </a:p>
                  </a:txBody>
                  <a:tcPr>
                    <a:solidFill>
                      <a:srgbClr val="151D32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1F5F9"/>
                          </a:solidFill>
                        </a:defRPr>
                      </a:pPr>
                      <a:r>
                        <a:t>SG90 Micro Servo + 3W Spks</a:t>
                      </a:r>
                    </a:p>
                  </a:txBody>
                  <a:tcPr>
                    <a:solidFill>
                      <a:srgbClr val="1C25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1F5F9"/>
                          </a:solidFill>
                        </a:defRPr>
                      </a:pPr>
                      <a:r>
                        <a:t>1 + 2</a:t>
                      </a:r>
                    </a:p>
                  </a:txBody>
                  <a:tcPr>
                    <a:solidFill>
                      <a:srgbClr val="1C25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1F5F9"/>
                          </a:solidFill>
                        </a:defRPr>
                      </a:pPr>
                      <a:r>
                        <a:t>50 Hz PWM position control (0°–180°), 4Ω dynamic speakers</a:t>
                      </a:r>
                    </a:p>
                  </a:txBody>
                  <a:tcPr>
                    <a:solidFill>
                      <a:srgbClr val="1C25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1F5F9"/>
                          </a:solidFill>
                        </a:defRPr>
                      </a:pPr>
                      <a:r>
                        <a:t>Directional steering &amp; sound output</a:t>
                      </a:r>
                    </a:p>
                  </a:txBody>
                  <a:tcPr>
                    <a:solidFill>
                      <a:srgbClr val="1C254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ELECTRONICS WORKSHOP (EW)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Kinematic Gesture Recognition Matrix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2286000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645920"/>
          <a:ext cx="1069848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3474720"/>
                <a:gridCol w="2011680"/>
                <a:gridCol w="3017520"/>
              </a:tblGrid>
              <a:tr h="57150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Hand Gesture</a:t>
                      </a:r>
                    </a:p>
                  </a:txBody>
                  <a:tcPr>
                    <a:solidFill>
                      <a:srgbClr val="0E749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Sensor Threshold Criteria</a:t>
                      </a:r>
                    </a:p>
                  </a:txBody>
                  <a:tcPr>
                    <a:solidFill>
                      <a:srgbClr val="0E749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VLC Opcode</a:t>
                      </a:r>
                    </a:p>
                  </a:txBody>
                  <a:tcPr>
                    <a:solidFill>
                      <a:srgbClr val="0E749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Assigned Action / Function</a:t>
                      </a:r>
                    </a:p>
                  </a:txBody>
                  <a:tcPr>
                    <a:solidFill>
                      <a:srgbClr val="0E7490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1F5F9"/>
                          </a:solidFill>
                        </a:defRPr>
                      </a:pPr>
                      <a:r>
                        <a:t>Fist Clench</a:t>
                      </a:r>
                    </a:p>
                  </a:txBody>
                  <a:tcPr>
                    <a:solidFill>
                      <a:srgbClr val="1C25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1F5F9"/>
                          </a:solidFill>
                        </a:defRPr>
                      </a:pPr>
                      <a:r>
                        <a:t>Flex 1 &lt; 1850 AND Flex 2 &lt; 1850 (both curled)</a:t>
                      </a:r>
                    </a:p>
                  </a:txBody>
                  <a:tcPr>
                    <a:solidFill>
                      <a:srgbClr val="1C25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38BDF8"/>
                          </a:solidFill>
                        </a:defRPr>
                      </a:pPr>
                      <a:r>
                        <a:t>0x10</a:t>
                      </a:r>
                    </a:p>
                  </a:txBody>
                  <a:tcPr>
                    <a:solidFill>
                      <a:srgbClr val="1C25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1F5F9"/>
                          </a:solidFill>
                        </a:defRPr>
                      </a:pPr>
                      <a:r>
                        <a:t>Play / Pause Audio Toggle</a:t>
                      </a:r>
                    </a:p>
                  </a:txBody>
                  <a:tcPr>
                    <a:solidFill>
                      <a:srgbClr val="1C2541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1F5F9"/>
                          </a:solidFill>
                        </a:defRPr>
                      </a:pPr>
                      <a:r>
                        <a:t>Tilt Forward</a:t>
                      </a:r>
                    </a:p>
                  </a:txBody>
                  <a:tcPr>
                    <a:solidFill>
                      <a:srgbClr val="151D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1F5F9"/>
                          </a:solidFill>
                        </a:defRPr>
                      </a:pPr>
                      <a:r>
                        <a:t>Pitch &lt; -28° (fingers extended)</a:t>
                      </a:r>
                    </a:p>
                  </a:txBody>
                  <a:tcPr>
                    <a:solidFill>
                      <a:srgbClr val="151D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38BDF8"/>
                          </a:solidFill>
                        </a:defRPr>
                      </a:pPr>
                      <a:r>
                        <a:t>0x21</a:t>
                      </a:r>
                    </a:p>
                  </a:txBody>
                  <a:tcPr>
                    <a:solidFill>
                      <a:srgbClr val="151D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1F5F9"/>
                          </a:solidFill>
                        </a:defRPr>
                      </a:pPr>
                      <a:r>
                        <a:t>Volume Down (–5% step)</a:t>
                      </a:r>
                    </a:p>
                  </a:txBody>
                  <a:tcPr>
                    <a:solidFill>
                      <a:srgbClr val="151D32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1F5F9"/>
                          </a:solidFill>
                        </a:defRPr>
                      </a:pPr>
                      <a:r>
                        <a:t>Tilt Backward</a:t>
                      </a:r>
                    </a:p>
                  </a:txBody>
                  <a:tcPr>
                    <a:solidFill>
                      <a:srgbClr val="1C25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1F5F9"/>
                          </a:solidFill>
                        </a:defRPr>
                      </a:pPr>
                      <a:r>
                        <a:t>Pitch &gt; +28° (fingers extended)</a:t>
                      </a:r>
                    </a:p>
                  </a:txBody>
                  <a:tcPr>
                    <a:solidFill>
                      <a:srgbClr val="1C25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38BDF8"/>
                          </a:solidFill>
                        </a:defRPr>
                      </a:pPr>
                      <a:r>
                        <a:t>0x20</a:t>
                      </a:r>
                    </a:p>
                  </a:txBody>
                  <a:tcPr>
                    <a:solidFill>
                      <a:srgbClr val="1C25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1F5F9"/>
                          </a:solidFill>
                        </a:defRPr>
                      </a:pPr>
                      <a:r>
                        <a:t>Volume Up (+5% step)</a:t>
                      </a:r>
                    </a:p>
                  </a:txBody>
                  <a:tcPr>
                    <a:solidFill>
                      <a:srgbClr val="1C2541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1F5F9"/>
                          </a:solidFill>
                        </a:defRPr>
                      </a:pPr>
                      <a:r>
                        <a:t>Tilt Left</a:t>
                      </a:r>
                    </a:p>
                  </a:txBody>
                  <a:tcPr>
                    <a:solidFill>
                      <a:srgbClr val="151D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1F5F9"/>
                          </a:solidFill>
                        </a:defRPr>
                      </a:pPr>
                      <a:r>
                        <a:t>Roll &lt; -32° (hand tilted counter-clockwise)</a:t>
                      </a:r>
                    </a:p>
                  </a:txBody>
                  <a:tcPr>
                    <a:solidFill>
                      <a:srgbClr val="151D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38BDF8"/>
                          </a:solidFill>
                        </a:defRPr>
                      </a:pPr>
                      <a:r>
                        <a:t>0x31</a:t>
                      </a:r>
                    </a:p>
                  </a:txBody>
                  <a:tcPr>
                    <a:solidFill>
                      <a:srgbClr val="151D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1F5F9"/>
                          </a:solidFill>
                        </a:defRPr>
                      </a:pPr>
                      <a:r>
                        <a:t>Previous Track (or Prev Slide)</a:t>
                      </a:r>
                    </a:p>
                  </a:txBody>
                  <a:tcPr>
                    <a:solidFill>
                      <a:srgbClr val="151D32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1F5F9"/>
                          </a:solidFill>
                        </a:defRPr>
                      </a:pPr>
                      <a:r>
                        <a:t>Tilt Right</a:t>
                      </a:r>
                    </a:p>
                  </a:txBody>
                  <a:tcPr>
                    <a:solidFill>
                      <a:srgbClr val="1C25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1F5F9"/>
                          </a:solidFill>
                        </a:defRPr>
                      </a:pPr>
                      <a:r>
                        <a:t>Roll &gt; +32° (hand tilted clockwise)</a:t>
                      </a:r>
                    </a:p>
                  </a:txBody>
                  <a:tcPr>
                    <a:solidFill>
                      <a:srgbClr val="1C25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38BDF8"/>
                          </a:solidFill>
                        </a:defRPr>
                      </a:pPr>
                      <a:r>
                        <a:t>0x30</a:t>
                      </a:r>
                    </a:p>
                  </a:txBody>
                  <a:tcPr>
                    <a:solidFill>
                      <a:srgbClr val="1C25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1F5F9"/>
                          </a:solidFill>
                        </a:defRPr>
                      </a:pPr>
                      <a:r>
                        <a:t>Next Track (or Next Slide)</a:t>
                      </a:r>
                    </a:p>
                  </a:txBody>
                  <a:tcPr>
                    <a:solidFill>
                      <a:srgbClr val="1C2541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1F5F9"/>
                          </a:solidFill>
                        </a:defRPr>
                      </a:pPr>
                      <a:r>
                        <a:t>Index Point</a:t>
                      </a:r>
                    </a:p>
                  </a:txBody>
                  <a:tcPr>
                    <a:solidFill>
                      <a:srgbClr val="151D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1F5F9"/>
                          </a:solidFill>
                        </a:defRPr>
                      </a:pPr>
                      <a:r>
                        <a:t>Flex 1 straight (&gt;2300), Flex 2 bent (&lt;1850)</a:t>
                      </a:r>
                    </a:p>
                  </a:txBody>
                  <a:tcPr>
                    <a:solidFill>
                      <a:srgbClr val="151D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38BDF8"/>
                          </a:solidFill>
                        </a:defRPr>
                      </a:pPr>
                      <a:r>
                        <a:t>0x40</a:t>
                      </a:r>
                    </a:p>
                  </a:txBody>
                  <a:tcPr>
                    <a:solidFill>
                      <a:srgbClr val="151D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1F5F9"/>
                          </a:solidFill>
                        </a:defRPr>
                      </a:pPr>
                      <a:r>
                        <a:t>Route Audio to Speaker A (Left)</a:t>
                      </a:r>
                    </a:p>
                  </a:txBody>
                  <a:tcPr>
                    <a:solidFill>
                      <a:srgbClr val="151D32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1F5F9"/>
                          </a:solidFill>
                        </a:defRPr>
                      </a:pPr>
                      <a:r>
                        <a:t>Peace Sign (V)</a:t>
                      </a:r>
                    </a:p>
                  </a:txBody>
                  <a:tcPr>
                    <a:solidFill>
                      <a:srgbClr val="1C25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1F5F9"/>
                          </a:solidFill>
                        </a:defRPr>
                      </a:pPr>
                      <a:r>
                        <a:t>Flex 1 straight (&gt;2300), Flex 2 straight (&gt;2300)</a:t>
                      </a:r>
                    </a:p>
                  </a:txBody>
                  <a:tcPr>
                    <a:solidFill>
                      <a:srgbClr val="1C25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38BDF8"/>
                          </a:solidFill>
                        </a:defRPr>
                      </a:pPr>
                      <a:r>
                        <a:t>0x41</a:t>
                      </a:r>
                    </a:p>
                  </a:txBody>
                  <a:tcPr>
                    <a:solidFill>
                      <a:srgbClr val="1C25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1F5F9"/>
                          </a:solidFill>
                        </a:defRPr>
                      </a:pPr>
                      <a:r>
                        <a:t>Route Audio to Speaker B (Right)</a:t>
                      </a:r>
                    </a:p>
                  </a:txBody>
                  <a:tcPr>
                    <a:solidFill>
                      <a:srgbClr val="1C254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ELECTRONICS WORKSHOP (EW)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Circuit Representation &amp; Hardware Pinouts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2286000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20640" cy="4663440"/>
          </a:xfrm>
          <a:prstGeom prst="roundRect">
            <a:avLst/>
          </a:prstGeom>
          <a:solidFill>
            <a:srgbClr val="1C2541"/>
          </a:solidFill>
          <a:ln w="12700"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28800"/>
            <a:ext cx="4663440" cy="4297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38BDF8"/>
                </a:solidFill>
              </a:defRPr>
            </a:pPr>
            <a:r>
              <a:t>Transmitter Glove Interfacing</a:t>
            </a:r>
          </a:p>
          <a:p>
            <a:pPr>
              <a:spcAft>
                <a:spcPts val="800"/>
              </a:spcAft>
              <a:defRPr sz="1300">
                <a:solidFill>
                  <a:srgbClr val="F1F5F9"/>
                </a:solidFill>
              </a:defRPr>
            </a:pPr>
            <a:r>
              <a:t>• MPU-6050 I2C Bus: SDA -&gt; GPIO 21, SCL -&gt; GPIO 22 (Fast Mode 400 kHz).</a:t>
            </a:r>
          </a:p>
          <a:p>
            <a:pPr>
              <a:spcAft>
                <a:spcPts val="800"/>
              </a:spcAft>
              <a:defRPr sz="1300">
                <a:solidFill>
                  <a:srgbClr val="F1F5F9"/>
                </a:solidFill>
              </a:defRPr>
            </a:pPr>
            <a:r>
              <a:t>• Index Flex Sensor: GPIO 34 (ADC1_CH6) with 22 kΩ precision pull-down.</a:t>
            </a:r>
          </a:p>
          <a:p>
            <a:pPr>
              <a:spcAft>
                <a:spcPts val="800"/>
              </a:spcAft>
              <a:defRPr sz="1300">
                <a:solidFill>
                  <a:srgbClr val="F1F5F9"/>
                </a:solidFill>
              </a:defRPr>
            </a:pPr>
            <a:r>
              <a:t>• Middle Flex Sensor: GPIO 35 (ADC1_CH7) with 22 kΩ precision pull-down.</a:t>
            </a:r>
          </a:p>
          <a:p>
            <a:pPr>
              <a:spcAft>
                <a:spcPts val="800"/>
              </a:spcAft>
              <a:defRPr sz="1300">
                <a:solidFill>
                  <a:srgbClr val="F1F5F9"/>
                </a:solidFill>
              </a:defRPr>
            </a:pPr>
            <a:r>
              <a:t>• VLC Driver: GPIO 17 -&gt; 1 kΩ base resistor -&gt; 2N2222 NPN transistor driving 5mm high-flux LED.</a:t>
            </a:r>
          </a:p>
          <a:p>
            <a:pPr>
              <a:spcAft>
                <a:spcPts val="800"/>
              </a:spcAft>
              <a:defRPr sz="1300">
                <a:solidFill>
                  <a:srgbClr val="F1F5F9"/>
                </a:solidFill>
              </a:defRPr>
            </a:pPr>
            <a:r>
              <a:t>• Portable Power: 3.7V 1000 mAh LiPo battery through TP4056 charge/protection board.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120640" cy="4663440"/>
          </a:xfrm>
          <a:prstGeom prst="roundRect">
            <a:avLst/>
          </a:prstGeom>
          <a:solidFill>
            <a:srgbClr val="1C2541"/>
          </a:solidFill>
          <a:ln w="12700"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828800"/>
            <a:ext cx="4663440" cy="4297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38BDF8"/>
                </a:solidFill>
              </a:defRPr>
            </a:pPr>
            <a:r>
              <a:t>Base Station &amp; Audio Interfacing</a:t>
            </a:r>
          </a:p>
          <a:p>
            <a:pPr>
              <a:spcAft>
                <a:spcPts val="800"/>
              </a:spcAft>
              <a:defRPr sz="1300">
                <a:solidFill>
                  <a:srgbClr val="F1F5F9"/>
                </a:solidFill>
              </a:defRPr>
            </a:pPr>
            <a:r>
              <a:t>• Optical Receiver: Photodiode digital out (DO) -&gt; GPIO 4 (UART RX pulse).</a:t>
            </a:r>
          </a:p>
          <a:p>
            <a:pPr>
              <a:spcAft>
                <a:spcPts val="800"/>
              </a:spcAft>
              <a:defRPr sz="1300">
                <a:solidFill>
                  <a:srgbClr val="F1F5F9"/>
                </a:solidFill>
              </a:defRPr>
            </a:pPr>
            <a:r>
              <a:t>• Shared I2S Audio Bus: BCLK -&gt; GPIO 22, LRC/WS -&gt; GPIO 21, DIN -&gt; GPIO 19.</a:t>
            </a:r>
          </a:p>
          <a:p>
            <a:pPr>
              <a:spcAft>
                <a:spcPts val="800"/>
              </a:spcAft>
              <a:defRPr sz="1300">
                <a:solidFill>
                  <a:srgbClr val="F1F5F9"/>
                </a:solidFill>
              </a:defRPr>
            </a:pPr>
            <a:r>
              <a:t>• Amplifier Enables: Amp 1 SD_MODE -&gt; GPIO 25, Amp 2 SD_MODE -&gt; GPIO 26.</a:t>
            </a:r>
          </a:p>
          <a:p>
            <a:pPr>
              <a:spcAft>
                <a:spcPts val="800"/>
              </a:spcAft>
              <a:defRPr sz="1300">
                <a:solidFill>
                  <a:srgbClr val="F1F5F9"/>
                </a:solidFill>
              </a:defRPr>
            </a:pPr>
            <a:r>
              <a:t>• Actuator Control: SG90 Micro Servo Signal -&gt; GPIO 18 (LEDC 50 Hz PWM).</a:t>
            </a:r>
          </a:p>
          <a:p>
            <a:pPr>
              <a:spcAft>
                <a:spcPts val="800"/>
              </a:spcAft>
              <a:defRPr sz="1300">
                <a:solidFill>
                  <a:srgbClr val="F1F5F9"/>
                </a:solidFill>
              </a:defRPr>
            </a:pPr>
            <a:r>
              <a:t>• Brownout Protection: 100 µF electrolytic decoupling cap across 5V motor/audio rail.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ELECTRONICS WORKSHOP (EW)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Mid-Evaluation Status &amp; Milestone Roadmap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2286000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20640" cy="4663440"/>
          </a:xfrm>
          <a:prstGeom prst="roundRect">
            <a:avLst/>
          </a:prstGeom>
          <a:solidFill>
            <a:srgbClr val="1C2541"/>
          </a:solidFill>
          <a:ln w="12700"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28800"/>
            <a:ext cx="4663440" cy="4297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38BDF8"/>
                </a:solidFill>
              </a:defRPr>
            </a:pPr>
            <a:r>
              <a:t>Completed Milestones (Mid-Eval)</a:t>
            </a:r>
          </a:p>
          <a:p>
            <a:pPr>
              <a:spcAft>
                <a:spcPts val="800"/>
              </a:spcAft>
              <a:defRPr sz="1300">
                <a:solidFill>
                  <a:srgbClr val="F1F5F9"/>
                </a:solidFill>
              </a:defRPr>
            </a:pPr>
            <a:r>
              <a:t>• ✅ Sensor Calibration: Interfaced MPU-6050 &amp; flex sensors with ESP32; established noise-immune threshold boundaries.</a:t>
            </a:r>
          </a:p>
          <a:p>
            <a:pPr>
              <a:spcAft>
                <a:spcPts val="800"/>
              </a:spcAft>
              <a:defRPr sz="1300">
                <a:solidFill>
                  <a:srgbClr val="F1F5F9"/>
                </a:solidFill>
              </a:defRPr>
            </a:pPr>
            <a:r>
              <a:t>• ✅ Complementary Filtering: Stable pitch/roll tracking without gimbal drift or high-frequency vibration jitter.</a:t>
            </a:r>
          </a:p>
          <a:p>
            <a:pPr>
              <a:spcAft>
                <a:spcPts val="800"/>
              </a:spcAft>
              <a:defRPr sz="1300">
                <a:solidFill>
                  <a:srgbClr val="F1F5F9"/>
                </a:solidFill>
              </a:defRPr>
            </a:pPr>
            <a:r>
              <a:t>• ✅ Optical Communication: Validated high-frequency LED pulsing and photodiode demodulation over line-of-sight.</a:t>
            </a:r>
          </a:p>
          <a:p>
            <a:pPr>
              <a:spcAft>
                <a:spcPts val="800"/>
              </a:spcAft>
              <a:defRPr sz="1300">
                <a:solidFill>
                  <a:srgbClr val="F1F5F9"/>
                </a:solidFill>
              </a:defRPr>
            </a:pPr>
            <a:r>
              <a:t>• ✅ Dual-Mode Controller: Implemented both direct optical framing and BLE HID media/presentation navigation.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120640" cy="4663440"/>
          </a:xfrm>
          <a:prstGeom prst="roundRect">
            <a:avLst/>
          </a:prstGeom>
          <a:solidFill>
            <a:srgbClr val="1C2541"/>
          </a:solidFill>
          <a:ln w="12700"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828800"/>
            <a:ext cx="4663440" cy="4297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38BDF8"/>
                </a:solidFill>
              </a:defRPr>
            </a:pPr>
            <a:r>
              <a:t>Final Evaluation Roadmap (Pending)</a:t>
            </a:r>
          </a:p>
          <a:p>
            <a:pPr>
              <a:spcAft>
                <a:spcPts val="800"/>
              </a:spcAft>
              <a:defRPr sz="1300">
                <a:solidFill>
                  <a:srgbClr val="F1F5F9"/>
                </a:solidFill>
              </a:defRPr>
            </a:pPr>
            <a:r>
              <a:t>• ⏳ Spatial Audio Steering: Calibrate SG90 micro-servo mapping to dynamically steer optical transmitter beam.</a:t>
            </a:r>
          </a:p>
          <a:p>
            <a:pPr>
              <a:spcAft>
                <a:spcPts val="800"/>
              </a:spcAft>
              <a:defRPr sz="1300">
                <a:solidFill>
                  <a:srgbClr val="F1F5F9"/>
                </a:solidFill>
              </a:defRPr>
            </a:pPr>
            <a:r>
              <a:t>• ⏳ Dual-Speaker Switching: Integrate independent SD_MODE line toggling to seamlessly transfer audio between speakers.</a:t>
            </a:r>
          </a:p>
          <a:p>
            <a:pPr>
              <a:spcAft>
                <a:spcPts val="800"/>
              </a:spcAft>
              <a:defRPr sz="1300">
                <a:solidFill>
                  <a:srgbClr val="F1F5F9"/>
                </a:solidFill>
              </a:defRPr>
            </a:pPr>
            <a:r>
              <a:t>• ⏳ Optical Collimation Enclosure: 3D-print narrow-beam lens shrouds to enhance daylight ambient noise rejection.</a:t>
            </a:r>
          </a:p>
          <a:p>
            <a:pPr>
              <a:spcAft>
                <a:spcPts val="800"/>
              </a:spcAft>
              <a:defRPr sz="1300">
                <a:solidFill>
                  <a:srgbClr val="F1F5F9"/>
                </a:solidFill>
              </a:defRPr>
            </a:pPr>
            <a:r>
              <a:t>• ⏳ Final Project Showcase: Conduct live demonstration of hands-free music and slide presentation control.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ELECTRONICS WORKSHOP (EW)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Summary, Deliverables &amp; Acknowledgments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2286000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20640" cy="4663440"/>
          </a:xfrm>
          <a:prstGeom prst="roundRect">
            <a:avLst/>
          </a:prstGeom>
          <a:solidFill>
            <a:srgbClr val="1C2541"/>
          </a:solidFill>
          <a:ln w="12700"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28800"/>
            <a:ext cx="4663440" cy="4297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38BDF8"/>
                </a:solidFill>
              </a:defRPr>
            </a:pPr>
            <a:r>
              <a:t>Project Summary &amp; Takeaways</a:t>
            </a:r>
          </a:p>
          <a:p>
            <a:pPr>
              <a:spcAft>
                <a:spcPts val="800"/>
              </a:spcAft>
              <a:defRPr sz="1300">
                <a:solidFill>
                  <a:srgbClr val="F1F5F9"/>
                </a:solidFill>
              </a:defRPr>
            </a:pPr>
            <a:r>
              <a:t>• Successful Proof of Concept: Proves the viability of Visible Light Communication for contactless human-machine interaction.</a:t>
            </a:r>
          </a:p>
          <a:p>
            <a:pPr>
              <a:spcAft>
                <a:spcPts val="800"/>
              </a:spcAft>
              <a:defRPr sz="1300">
                <a:solidFill>
                  <a:srgbClr val="F1F5F9"/>
                </a:solidFill>
              </a:defRPr>
            </a:pPr>
            <a:r>
              <a:t>• RF-Free Architecture: Achieves wireless digital audio and media command transmission without electromagnetic interference.</a:t>
            </a:r>
          </a:p>
          <a:p>
            <a:pPr>
              <a:spcAft>
                <a:spcPts val="800"/>
              </a:spcAft>
              <a:defRPr sz="1300">
                <a:solidFill>
                  <a:srgbClr val="F1F5F9"/>
                </a:solidFill>
              </a:defRPr>
            </a:pPr>
            <a:r>
              <a:t>• Embedded Optimization: Utilizes FreeRTOS dual-core task scheduling to guarantee zero-jitter audio playback alongside optical decoding.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120640" cy="4663440"/>
          </a:xfrm>
          <a:prstGeom prst="roundRect">
            <a:avLst/>
          </a:prstGeom>
          <a:solidFill>
            <a:srgbClr val="1C2541"/>
          </a:solidFill>
          <a:ln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spcAft>
                <a:spcPts val="1000"/>
              </a:spcAft>
              <a:defRPr sz="1600" b="1">
                <a:solidFill>
                  <a:srgbClr val="F59E0B"/>
                </a:solidFill>
              </a:defRPr>
            </a:pPr>
            <a:r>
              <a:t>Team Chammaks &amp; Responsibilities</a:t>
            </a:r>
          </a:p>
          <a:p>
            <a:pPr>
              <a:defRPr sz="1300" b="1">
                <a:solidFill>
                  <a:srgbClr val="FFFFFF"/>
                </a:solidFill>
              </a:defRPr>
            </a:pPr>
            <a:r>
              <a:t>• Shreyaas Sarkar</a:t>
            </a:r>
          </a:p>
          <a:p>
            <a:pPr>
              <a:spcAft>
                <a:spcPts val="800"/>
              </a:spcAft>
              <a:defRPr sz="1100">
                <a:solidFill>
                  <a:srgbClr val="94A3B8"/>
                </a:solidFill>
              </a:defRPr>
            </a:pPr>
            <a:r>
              <a:t>   Role: Sensor glove fabrication, kinematics calibration, wearable assembly</a:t>
            </a:r>
          </a:p>
          <a:p>
            <a:pPr>
              <a:defRPr sz="1300" b="1">
                <a:solidFill>
                  <a:srgbClr val="FFFFFF"/>
                </a:solidFill>
              </a:defRPr>
            </a:pPr>
            <a:r>
              <a:t>• Jonathan Robin</a:t>
            </a:r>
          </a:p>
          <a:p>
            <a:pPr>
              <a:spcAft>
                <a:spcPts val="800"/>
              </a:spcAft>
              <a:defRPr sz="1100">
                <a:solidFill>
                  <a:srgbClr val="94A3B8"/>
                </a:solidFill>
              </a:defRPr>
            </a:pPr>
            <a:r>
              <a:t>   Role: VLC optical transmitter driver, photodiode amplifier, audio DSP</a:t>
            </a:r>
          </a:p>
          <a:p>
            <a:pPr>
              <a:defRPr sz="1300" b="1">
                <a:solidFill>
                  <a:srgbClr val="FFFFFF"/>
                </a:solidFill>
              </a:defRPr>
            </a:pPr>
            <a:r>
              <a:t>• Aditya Gokhale</a:t>
            </a:r>
          </a:p>
          <a:p>
            <a:pPr>
              <a:spcAft>
                <a:spcPts val="800"/>
              </a:spcAft>
              <a:defRPr sz="1100">
                <a:solidFill>
                  <a:srgbClr val="94A3B8"/>
                </a:solidFill>
              </a:defRPr>
            </a:pPr>
            <a:r>
              <a:t>   Role: FreeRTOS firmware, I2S bus integration, hardware testing &amp; slides</a:t>
            </a:r>
          </a:p>
          <a:p>
            <a:pPr>
              <a:spcBef>
                <a:spcPts val="800"/>
              </a:spcBef>
              <a:defRPr sz="1400" b="1">
                <a:solidFill>
                  <a:srgbClr val="38BDF8"/>
                </a:solidFill>
              </a:defRPr>
            </a:pPr>
            <a:r>
              <a:t>Course Faculty &amp; Acknowledgments</a:t>
            </a:r>
          </a:p>
          <a:p>
            <a:pPr>
              <a:defRPr sz="1100">
                <a:solidFill>
                  <a:srgbClr val="F1F5F9"/>
                </a:solidFill>
              </a:defRPr>
            </a:pPr>
            <a:r>
              <a:t>Sincere gratitude to the Electronics Workshop Course Coordinator, Lab Instructors, and Department Technical Staff for continuous guidance and laboratory support.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